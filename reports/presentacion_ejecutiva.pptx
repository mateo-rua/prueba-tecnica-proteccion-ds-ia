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292730"/>
                </a:solidFill>
                <a:latin typeface="Calibri"/>
              </a:rPr>
              <a:t>Top 5 por volumen (% unidades)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Top 5 por volumen (% unidades)</c:v>
                </c:pt>
              </c:strCache>
            </c:strRef>
          </c:tx>
          <c:dPt>
            <c:idx val="0"/>
            <c:spPr>
              <a:solidFill>
                <a:srgbClr val="719ECE"/>
              </a:solidFill>
            </c:spPr>
          </c:dPt>
          <c:dPt>
            <c:idx val="1"/>
            <c:spPr>
              <a:solidFill>
                <a:srgbClr val="0033A0"/>
              </a:solidFill>
            </c:spPr>
          </c:dPt>
          <c:dPt>
            <c:idx val="2"/>
            <c:spPr>
              <a:solidFill>
                <a:srgbClr val="719ECE"/>
              </a:solidFill>
            </c:spPr>
          </c:dPt>
          <c:dPt>
            <c:idx val="3"/>
            <c:spPr>
              <a:solidFill>
                <a:srgbClr val="719ECE"/>
              </a:solidFill>
            </c:spPr>
          </c:dPt>
          <c:dPt>
            <c:idx val="4"/>
            <c:spPr>
              <a:solidFill>
                <a:srgbClr val="719ECE"/>
              </a:solidFill>
            </c:spPr>
          </c:dPt>
          <c:cat>
            <c:strRef>
              <c:f>Sheet1!$A$2:$A$6</c:f>
              <c:strCache>
                <c:ptCount val="5"/>
                <c:pt idx="0">
                  <c:v>Cama, mesa y baño</c:v>
                </c:pt>
                <c:pt idx="1">
                  <c:v>Belleza y salud</c:v>
                </c:pt>
                <c:pt idx="2">
                  <c:v>Deporte y ocio</c:v>
                </c:pt>
                <c:pt idx="3">
                  <c:v>Muebles y decoración</c:v>
                </c:pt>
                <c:pt idx="4">
                  <c:v>Informática y accesorios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9.94</c:v>
                </c:pt>
                <c:pt idx="1">
                  <c:v>8.59</c:v>
                </c:pt>
                <c:pt idx="2">
                  <c:v>7.65</c:v>
                </c:pt>
                <c:pt idx="3">
                  <c:v>7.4</c:v>
                </c:pt>
                <c:pt idx="4">
                  <c:v>6.94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2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.424999999999999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292730"/>
                </a:solidFill>
                <a:latin typeface="Calibri"/>
              </a:rPr>
              <a:t>Top 5 por ingresos (% ingresos)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Top 5 por ingresos (% ingresos)</c:v>
                </c:pt>
              </c:strCache>
            </c:strRef>
          </c:tx>
          <c:dPt>
            <c:idx val="0"/>
            <c:spPr>
              <a:solidFill>
                <a:srgbClr val="0033A0"/>
              </a:solidFill>
            </c:spPr>
          </c:dPt>
          <c:dPt>
            <c:idx val="1"/>
            <c:spPr>
              <a:solidFill>
                <a:srgbClr val="719ECE"/>
              </a:solidFill>
            </c:spPr>
          </c:dPt>
          <c:dPt>
            <c:idx val="2"/>
            <c:spPr>
              <a:solidFill>
                <a:srgbClr val="719ECE"/>
              </a:solidFill>
            </c:spPr>
          </c:dPt>
          <c:dPt>
            <c:idx val="3"/>
            <c:spPr>
              <a:solidFill>
                <a:srgbClr val="719ECE"/>
              </a:solidFill>
            </c:spPr>
          </c:dPt>
          <c:dPt>
            <c:idx val="4"/>
            <c:spPr>
              <a:solidFill>
                <a:srgbClr val="719ECE"/>
              </a:solidFill>
            </c:spPr>
          </c:dPt>
          <c:cat>
            <c:strRef>
              <c:f>Sheet1!$A$2:$A$6</c:f>
              <c:strCache>
                <c:ptCount val="5"/>
                <c:pt idx="0">
                  <c:v>Belleza y salud</c:v>
                </c:pt>
                <c:pt idx="1">
                  <c:v>Relojes y regalos</c:v>
                </c:pt>
                <c:pt idx="2">
                  <c:v>Cama, mesa y baño</c:v>
                </c:pt>
                <c:pt idx="3">
                  <c:v>Deporte y ocio</c:v>
                </c:pt>
                <c:pt idx="4">
                  <c:v>Informática y accesorios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9.33</c:v>
                </c:pt>
                <c:pt idx="1">
                  <c:v>8.82</c:v>
                </c:pt>
                <c:pt idx="2">
                  <c:v>7.74</c:v>
                </c:pt>
                <c:pt idx="3">
                  <c:v>7.22</c:v>
                </c:pt>
                <c:pt idx="4">
                  <c:v>6.72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2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.6625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292730"/>
                </a:solidFill>
                <a:latin typeface="Calibri"/>
              </a:rPr>
              <a:t>Top dolores: % de comentarios negativos por tema (NLP)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Top dolores: % de comentarios negativos por tema (NLP)</c:v>
                </c:pt>
              </c:strCache>
            </c:strRef>
          </c:tx>
          <c:dPt>
            <c:idx val="0"/>
            <c:spPr>
              <a:solidFill>
                <a:srgbClr val="0033A0"/>
              </a:solidFill>
            </c:spPr>
          </c:dPt>
          <c:dPt>
            <c:idx val="1"/>
            <c:spPr>
              <a:solidFill>
                <a:srgbClr val="719ECE"/>
              </a:solidFill>
            </c:spPr>
          </c:dPt>
          <c:dPt>
            <c:idx val="2"/>
            <c:spPr>
              <a:solidFill>
                <a:srgbClr val="719ECE"/>
              </a:solidFill>
            </c:spPr>
          </c:dPt>
          <c:dPt>
            <c:idx val="3"/>
            <c:spPr>
              <a:solidFill>
                <a:srgbClr val="719ECE"/>
              </a:solidFill>
            </c:spPr>
          </c:dPt>
          <c:dPt>
            <c:idx val="4"/>
            <c:spPr>
              <a:solidFill>
                <a:srgbClr val="719ECE"/>
              </a:solidFill>
            </c:spPr>
          </c:dPt>
          <c:cat>
            <c:strRef>
              <c:f>Sheet1!$A$2:$A$6</c:f>
              <c:strCache>
                <c:ptCount val="5"/>
                <c:pt idx="0">
                  <c:v>Entrega / retraso</c:v>
                </c:pt>
                <c:pt idx="1">
                  <c:v>Atención / vendedor</c:v>
                </c:pt>
                <c:pt idx="2">
                  <c:v>Producto errado</c:v>
                </c:pt>
                <c:pt idx="3">
                  <c:v>Reembolso</c:v>
                </c:pt>
                <c:pt idx="4">
                  <c:v>Producto defectuoso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56.4</c:v>
                </c:pt>
                <c:pt idx="1">
                  <c:v>17.9</c:v>
                </c:pt>
                <c:pt idx="2">
                  <c:v>17.1</c:v>
                </c:pt>
                <c:pt idx="3">
                  <c:v>14.7</c:v>
                </c:pt>
                <c:pt idx="4">
                  <c:v>13.5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2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.5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292730"/>
                </a:solidFill>
                <a:latin typeface="Calibri"/>
              </a:rPr>
              <a:t>Top categorías por impacto (n° malas experiencias)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Top categorías por impacto (n° malas experiencias)</c:v>
                </c:pt>
              </c:strCache>
            </c:strRef>
          </c:tx>
          <c:dPt>
            <c:idx val="0"/>
            <c:spPr>
              <a:solidFill>
                <a:srgbClr val="0033A0"/>
              </a:solidFill>
            </c:spPr>
          </c:dPt>
          <c:dPt>
            <c:idx val="1"/>
            <c:spPr>
              <a:solidFill>
                <a:srgbClr val="719ECE"/>
              </a:solidFill>
            </c:spPr>
          </c:dPt>
          <c:dPt>
            <c:idx val="2"/>
            <c:spPr>
              <a:solidFill>
                <a:srgbClr val="719ECE"/>
              </a:solidFill>
            </c:spPr>
          </c:dPt>
          <c:dPt>
            <c:idx val="3"/>
            <c:spPr>
              <a:solidFill>
                <a:srgbClr val="719ECE"/>
              </a:solidFill>
            </c:spPr>
          </c:dPt>
          <c:dPt>
            <c:idx val="4"/>
            <c:spPr>
              <a:solidFill>
                <a:srgbClr val="719ECE"/>
              </a:solidFill>
            </c:spPr>
          </c:dPt>
          <c:cat>
            <c:strRef>
              <c:f>Sheet1!$A$2:$A$6</c:f>
              <c:strCache>
                <c:ptCount val="5"/>
                <c:pt idx="0">
                  <c:v>Cama, mesa y baño</c:v>
                </c:pt>
                <c:pt idx="1">
                  <c:v>Belleza y salud</c:v>
                </c:pt>
                <c:pt idx="2">
                  <c:v>Muebles y decoración</c:v>
                </c:pt>
                <c:pt idx="3">
                  <c:v>Informática y accesorios</c:v>
                </c:pt>
                <c:pt idx="4">
                  <c:v>Deporte y ocio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1471</c:v>
                </c:pt>
                <c:pt idx="1">
                  <c:v>985</c:v>
                </c:pt>
                <c:pt idx="2">
                  <c:v>961</c:v>
                </c:pt>
                <c:pt idx="3">
                  <c:v>946</c:v>
                </c:pt>
                <c:pt idx="4">
                  <c:v>852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38.75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Presentarme y el objetivo: convertir datos transaccionales en decisiones de venta y servicio que alimenten un Agente de IA.</a:t>
            </a:r>
          </a:p>
          <a:p>
            <a:r>
              <a:t>• La prueba usa Olist como 'nuestra empresa': cada punto alimenta al siguiente.</a:t>
            </a:r>
          </a:p>
          <a:p>
            <a:r>
              <a:t>• Todo es reproducible: código en GitHub y dos demos publicados en AWS (recomendador y agente).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El reto de la vacante: orquestar modelos predictivos que alimenten Agentes de IA y personalicen ventas y servicio.</a:t>
            </a:r>
          </a:p>
          <a:p>
            <a:r>
              <a:t>• Por eso la solución es un hilo conductor, no siete respuestas sueltas.</a:t>
            </a:r>
          </a:p>
          <a:p>
            <a:r>
              <a:t>• P1 dice qué se vende y qué duele; P2 dice quién es cada cliente y qué ofrecerle; P3 lo convierte en conversaciones.</a:t>
            </a:r>
          </a:p>
          <a:p>
            <a:r>
              <a:t>• El dolor del 1.2 atraviesa todo: segmentación, recomendador y tono del agente.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Dataset público Olist (Kaggle): e-commerce brasileño, sep-2016 a oct-2018.</a:t>
            </a:r>
          </a:p>
          <a:p>
            <a:r>
              <a:t>• La tabla central es orders: une clientes, ítems, pagos y reseñas.</a:t>
            </a:r>
          </a:p>
          <a:p>
            <a:r>
              <a:t>• Regla clave: el cliente real es customer_unique_id; customer_id cambia en cada pedido.</a:t>
            </a:r>
          </a:p>
          <a:p>
            <a:r>
              <a:t>• Nunca unir ítems con pagos directamente: duplica montos (payment_value incluye flete).</a:t>
            </a:r>
          </a:p>
          <a:p>
            <a:r>
              <a:t>• Cifra de ítems (112.650) tomada del EDA (explorer.ipynb).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Volumen = unidades (filas de order_items); ingresos = suma de price sin flete, solo pedidos entregados.</a:t>
            </a:r>
          </a:p>
          <a:p>
            <a:r>
              <a:t>• Cuatro categorías están en ambos tops; la diferencia la explica el ticket.</a:t>
            </a:r>
          </a:p>
          <a:p>
            <a:r>
              <a:t>• Relojes y regalos entra por ingresos con ticket de R$ 199; Muebles y decoración entra por volumen con R$ 87.</a:t>
            </a:r>
          </a:p>
          <a:p>
            <a:r>
              <a:t>• Defensa: el top 5 no cambia con el filtro laxo de estados ni sumando el flete.</a:t>
            </a:r>
          </a:p>
          <a:p>
            <a:r>
              <a:t>• Cada pedido tiene 1,14 unidades: no hay venta cruzada, argumento para el recomendador.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Mala experiencia = reseña de 1-2 estrellas: es el dolor declarado por el cliente.</a:t>
            </a:r>
          </a:p>
          <a:p>
            <a:r>
              <a:t>• Se demuestra con grupo de control: tarde 62,4% vs a tiempo 9,3% (6,7 veces más).</a:t>
            </a:r>
          </a:p>
          <a:p>
            <a:r>
              <a:t>• El texto lo confirma: 56,4% de los comentarios negativos habla de entrega.</a:t>
            </a:r>
          </a:p>
          <a:p>
            <a:r>
              <a:t>• Umbral accionable: 1-3 días de retraso ya lleva al 32%; de 8-14 días, al 80%.</a:t>
            </a:r>
          </a:p>
          <a:p>
            <a:r>
              <a:t>• Lo que NO es dolor: el flete caro (14,9% vs 14,1%).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Dos rankings, dos decisiones: el impacto dice dónde invertir y la tasa dice dónde el proceso está roto.</a:t>
            </a:r>
          </a:p>
          <a:p>
            <a:r>
              <a:t>• Cama, mesa y baño: 1.471 clientes molestos; Audio: la peor tasa (21,7%) pero con solo 75 afectados.</a:t>
            </a:r>
          </a:p>
          <a:p>
            <a:r>
              <a:t>• Hay que separar causas: Audio falla por logística (11,6% tarde), Muebles de oficina por producto (score 3,64 con 8% tarde).</a:t>
            </a:r>
          </a:p>
          <a:p>
            <a:r>
              <a:t>• Solo entran al ranking por tasa las categorías con ≥ 300 pedidos, para evitar tasas infladas.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RFM por customer_unique_id; el reto es que solo 3% recompra, así que la F casi no discrimina.</a:t>
            </a:r>
          </a:p>
          <a:p>
            <a:r>
              <a:t>• Umbral de riesgo calculado con datos: el 75% de las recompras reales ocurre dentro de 171 días.</a:t>
            </a:r>
          </a:p>
          <a:p>
            <a:r>
              <a:t>• Se excluyen los segundos pedidos del mismo día (30%): son un carrito partido, no una recompra.</a:t>
            </a:r>
          </a:p>
          <a:p>
            <a:r>
              <a:t>• VIP = gasto en el top 10% (≥ R$ 319): 9,6% de clientes que generan el 36,9% de los ingresos.</a:t>
            </a:r>
          </a:p>
          <a:p>
            <a:r>
              <a:t>• K-Means como contraste: con k=2 solo separa recompradores; con k=4 descubre un cluster insatisfecho (16.358 clientes, score 1,6): la población natural de PQR.</a:t>
            </a:r>
          </a:p>
          <a:p>
            <a:r>
              <a:t>• Elegí reglas para marketing: interpretables, estables y con precio por segmento; el K-Means valida que el dolor del 1.2 es estructural.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Fieles son solo 1,1%: la meta realista no es fidelizar sino lograr la segunda compra.</a:t>
            </a:r>
          </a:p>
          <a:p>
            <a:r>
              <a:t>• VIP: 9,6% de clientes y 36,9% de ingresos, es donde más rinde el presupuesto de retención.</a:t>
            </a:r>
          </a:p>
          <a:p>
            <a:r>
              <a:t>• En riesgo + perdidos = 55% de la base y 37,6% de los ingresos históricos.</a:t>
            </a:r>
          </a:p>
          <a:p>
            <a:r>
              <a:t>• Cada segmento tiene una acción distinta; al cliente con mala experiencia primero se le resuelve el PQR.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Capa offline (batch diario): ingesta, features de cliente (segmento, RFM, historial, dolor), candidatos, ranking y carga al feature store.</a:t>
            </a:r>
          </a:p>
          <a:p>
            <a:r>
              <a:t>• Capa online: visita web → API Gateway → FastAPI serverless → perfil → candidatos → ranking → reglas → top-K → log de eventos.</a:t>
            </a:r>
          </a:p>
          <a:p>
            <a:r>
              <a:t>• Ranking fase 1: puntaje (ventas, entrega, reseñas); fase 2: LightGBM cuando haya eventos web.</a:t>
            </a:r>
          </a:p>
          <a:p>
            <a:r>
              <a:t>• El mismo endpoint es una herramienta del Agente de IA del punto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Flujo: el cliente entra → se lee su perfil → la estrategia depende del segmento → candidatos → ranking → reglas → top 5 con motivo.</a:t>
            </a:r>
          </a:p>
          <a:p>
            <a:r>
              <a:t>• Estrategia: nuevo = populares de su estado; 1 compra = complementaria; fiel = favorita; VIP = premium; en riesgo/mala exp. = entrega confiable.</a:t>
            </a:r>
          </a:p>
          <a:p>
            <a:r>
              <a:t>• Evaluado con split temporal en 3 cortes: 49-50% vs 46% de la popularidad.</a:t>
            </a:r>
          </a:p>
          <a:p>
            <a:r>
              <a:t>• Serverless (Lambda) escala solo y cuesta cero sin uso; el arranque en frío se mitiga con concurrencia aprovisionada.</a:t>
            </a:r>
          </a:p>
          <a:p>
            <a:r>
              <a:t>• Demo en vivo: https://e2ve24fowzbyfyeqmpobgfuyyu0lzuaf.lambda-url.us-east-1.on.aws/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São Paulo es la ciudad con más ventas: 14,1% del país, casi el doble que Río.</a:t>
            </a:r>
          </a:p>
          <a:p>
            <a:r>
              <a:t>• Se agruparon los prefijos postales con K-Means ponderado por ingresos (k=9 por silhouette).</a:t>
            </a:r>
          </a:p>
          <a:p>
            <a:r>
              <a:t>• Zona ganadora: lat -23,554 / lng -46,652 (Paulista / Jardins / Consolação, aprox.).</a:t>
            </a:r>
          </a:p>
          <a:p>
            <a:r>
              <a:t>• Robustez: gana con 4 esquemas de pesos y se mueve menos de 4 km con otro número de zonas.</a:t>
            </a:r>
          </a:p>
          <a:p>
            <a:r>
              <a:t>• Ojo: esa zona ya recibe rápido (7 días); la tienda es apuesta de marca, no solución logística.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Regla: el producto con más ingresos de Belleza y salud, Cama, mesa y baño y Muebles y decoración.</a:t>
            </a:r>
          </a:p>
          <a:p>
            <a:r>
              <a:t>• El dataset no trae nombres: las reseñas revelan que son un adipómetro, un juego de toallas y un perchero.</a:t>
            </a:r>
          </a:p>
          <a:p>
            <a:r>
              <a:t>• Textos simulados, sin marcas ni especificaciones inventadas; métricas 100% reales (diferencia de precio = 0).</a:t>
            </a:r>
          </a:p>
          <a:p>
            <a:r>
              <a:t>• Las quejas reales quedan como nota para el agente: evita prometer de más.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Los tres prompts comparten estructura: así el comportamiento es predecible y auditable.</a:t>
            </a:r>
          </a:p>
          <a:p>
            <a:r>
              <a:t>• HISTORIAL_COMPRAS es una variable calculada en el 2.1: pedidos, gasto, ticket, favorita, recencia, reseña y mala experiencia con su motivo.</a:t>
            </a:r>
          </a:p>
          <a:p>
            <a:r>
              <a:t>• construir_prompt() reemplaza las 5 variables con datos reales del cliente y el JSON del 3.1.</a:t>
            </a:r>
          </a:p>
          <a:p>
            <a:r>
              <a:t>• Edad y género vienen del CRM (simulados) y solo ajustan el tono.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Sofi (joven digital): tutea, mensajes cortos, complementarios y llamada a la acción.</a:t>
            </a:r>
          </a:p>
          <a:p>
            <a:r>
              <a:t>• Andrés (mayor con mala experiencia): usted, primero disculpa y escucha; luego productos con mayor % a tiempo y nunca el Adipómetro (84,9%).</a:t>
            </a:r>
          </a:p>
          <a:p>
            <a:r>
              <a:t>• Valentina (VIP): consultiva, pregunta antes de recomendar y propone cantidades con precios reales.</a:t>
            </a:r>
          </a:p>
          <a:p>
            <a:r>
              <a:t>• Guardarraíles comunes: solo productos de la base, sin descuentos inventados, sin estereotipos y con escalamiento humano.</a:t>
            </a:r>
          </a:p>
          <a:p>
            <a:r>
              <a:t>• Demo: el chat con Claude en Amazon Bedrock está en /chat del mismo enlace.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Cierro traduciendo lo aprendido en Olist a Protección: pensiones, cesantías, ahorro e inversión y PQR.</a:t>
            </a:r>
          </a:p>
          <a:p>
            <a:r>
              <a:t>• 1) Cumplir la promesa: alertas proactivas antes de que un trámite supere el tiempo prometido.</a:t>
            </a:r>
          </a:p>
          <a:p>
            <a:r>
              <a:t>• 2) Retención: propensión de abandono/traslado y campañas por segmento.</a:t>
            </a:r>
          </a:p>
          <a:p>
            <a:r>
              <a:t>• 3) Voz del cliente: clasificar PQR y llamadas por tema y urgencia.</a:t>
            </a:r>
          </a:p>
          <a:p>
            <a:r>
              <a:t>• 4) Agente con contexto del afiliado para servicio y venta cruzada.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9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Prueba técnica · Científico de Datos IA – PQR · Mateo Londoño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E3E829"/>
                </a:solidFill>
                <a:latin typeface="Calibri"/>
              </a:rPr>
              <a:t>PROTECCIÓN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51560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Inteligencia de clientes y Agentes de IA para experiencias hiper-personalizadas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Prueba técnica – Científico de Datos para soluciones con IA · Equipo Atención de PQR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E3E829"/>
                </a:solidFill>
                <a:latin typeface="Calibri"/>
              </a:rPr>
              <a:t>Mateo Londoño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Septiembre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33A0"/>
                </a:solidFill>
                <a:latin typeface="Calibri"/>
              </a:rPr>
              <a:t>De datos transaccionales a conversaciones personalizadas que venden y sirven mejor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26277"/>
                </a:solidFill>
                <a:latin typeface="Calibri"/>
              </a:rPr>
              <a:t>Prueba técnica · Científico de Datos IA – PQR · Mateo Londoño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26277"/>
                </a:solidFill>
                <a:latin typeface="Calibri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33A0"/>
                </a:solidFill>
                <a:latin typeface="Calibri"/>
              </a:rPr>
              <a:t>1 · Diagnóstico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23160"/>
            <a:ext cx="310896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92730"/>
                </a:solidFill>
                <a:latin typeface="Calibri"/>
              </a:rPr>
              <a:t>¿Qué se vende más y cuál es el mayor dolor del cliente?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49039"/>
            <a:ext cx="31089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92730"/>
                </a:solidFill>
                <a:latin typeface="Calibri"/>
              </a:rPr>
              <a:t>Top categorías · dolor y categorías asociadas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834640"/>
            <a:ext cx="4114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0033A0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5448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3736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33A0"/>
                </a:solidFill>
                <a:latin typeface="Calibri"/>
              </a:rPr>
              <a:t>2 · Inteligencia de clientes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423160"/>
            <a:ext cx="310896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92730"/>
                </a:solidFill>
                <a:latin typeface="Calibri"/>
              </a:rPr>
              <a:t>¿Quién es cada cliente y qué ofrecerle?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749039"/>
            <a:ext cx="31089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92730"/>
                </a:solidFill>
                <a:latin typeface="Calibri"/>
              </a:rPr>
              <a:t>Segmentación · recomendador en tiempo real · tienda física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834640"/>
            <a:ext cx="4114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0033A0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5448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73736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E3E829"/>
                </a:solidFill>
                <a:latin typeface="Calibri"/>
              </a:rPr>
              <a:t>3 · Activación con 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423160"/>
            <a:ext cx="310896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¿Cómo conversar con cada cliente?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749039"/>
            <a:ext cx="31089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Base de conocimiento · system prompts · agente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166360"/>
            <a:ext cx="112471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33A0"/>
                </a:solidFill>
                <a:latin typeface="Calibri"/>
              </a:rPr>
              <a:t>Misión de la vacante: 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92730"/>
                </a:solidFill>
                <a:latin typeface="Calibri"/>
              </a:rPr>
              <a:t>orquestar modelos predictivos que alimenten Agentes de IA y conviertan interacciones multicanal en experiencias hiper-personalizadas.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33A0"/>
                </a:solidFill>
                <a:latin typeface="Calibri"/>
              </a:rPr>
              <a:t>Un e-commerce real de 2 años: 99 mil pedidos de 96 mil clientes en 9 tablas conectadas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26277"/>
                </a:solidFill>
                <a:latin typeface="Calibri"/>
              </a:rPr>
              <a:t>Prueba técnica · Científico de Datos IA – PQR · Mateo Londoño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26277"/>
                </a:solidFill>
                <a:latin typeface="Calibri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737360" cy="1234440"/>
          </a:xfrm>
          <a:prstGeom prst="roundRect">
            <a:avLst>
              <a:gd name="adj" fmla="val 6000"/>
            </a:avLst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44752"/>
            <a:ext cx="1463039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3E829"/>
                </a:solidFill>
                <a:latin typeface="Calibri"/>
              </a:rPr>
              <a:t>99.441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84832"/>
            <a:ext cx="1463039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pedidos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1371600"/>
            <a:ext cx="1737360" cy="1234440"/>
          </a:xfrm>
          <a:prstGeom prst="roundRect">
            <a:avLst>
              <a:gd name="adj" fmla="val 6000"/>
            </a:avLst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444752"/>
            <a:ext cx="1463039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3E829"/>
                </a:solidFill>
                <a:latin typeface="Calibri"/>
              </a:rPr>
              <a:t>96.096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79" y="2084832"/>
            <a:ext cx="1463039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clientes únicos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371600"/>
            <a:ext cx="1737360" cy="1234440"/>
          </a:xfrm>
          <a:prstGeom prst="roundRect">
            <a:avLst>
              <a:gd name="adj" fmla="val 6000"/>
            </a:avLst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444752"/>
            <a:ext cx="1463039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3E829"/>
                </a:solidFill>
                <a:latin typeface="Calibri"/>
              </a:rPr>
              <a:t>112.650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084832"/>
            <a:ext cx="1463039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ítems vendidos*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59" y="1371600"/>
            <a:ext cx="1737360" cy="1234440"/>
          </a:xfrm>
          <a:prstGeom prst="roundRect">
            <a:avLst>
              <a:gd name="adj" fmla="val 6000"/>
            </a:avLst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444752"/>
            <a:ext cx="1463039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3E829"/>
                </a:solidFill>
                <a:latin typeface="Calibri"/>
              </a:rPr>
              <a:t>99.224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084832"/>
            <a:ext cx="1463039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reseñas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88920"/>
            <a:ext cx="4754880" cy="3017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92730"/>
                </a:solidFill>
                <a:latin typeface="Calibri"/>
              </a:rPr>
              <a:t>• orders – pedido, estado y fechas (tabla central)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92730"/>
                </a:solidFill>
                <a:latin typeface="Calibri"/>
              </a:rPr>
              <a:t>• customers – cliente, ciudad y estado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92730"/>
                </a:solidFill>
                <a:latin typeface="Calibri"/>
              </a:rPr>
              <a:t>• order_items – 1 fila = 1 unidad vendida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92730"/>
                </a:solidFill>
                <a:latin typeface="Calibri"/>
              </a:rPr>
              <a:t>• order_payments – medio de pago y cuotas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92730"/>
                </a:solidFill>
                <a:latin typeface="Calibri"/>
              </a:rPr>
              <a:t>• order_reviews – nota 1-5 y comentario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92730"/>
                </a:solidFill>
                <a:latin typeface="Calibri"/>
              </a:rPr>
              <a:t>• products – categoría (sin nombre)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92730"/>
                </a:solidFill>
                <a:latin typeface="Calibri"/>
              </a:rPr>
              <a:t>• sellers – vendedor y ubicación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92730"/>
                </a:solidFill>
                <a:latin typeface="Calibri"/>
              </a:rPr>
              <a:t>• geolocation – coordenadas por código postal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92730"/>
                </a:solidFill>
                <a:latin typeface="Calibri"/>
              </a:rPr>
              <a:t>• category_translation – portugués → inglés</a:t>
            </a:r>
          </a:p>
        </p:txBody>
      </p:sp>
      <p:pic>
        <p:nvPicPr>
          <p:cNvPr id="18" name="Picture 17" descr="diagrama_relaciones_tabl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2810401"/>
            <a:ext cx="6446519" cy="288311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26277"/>
                </a:solidFill>
                <a:latin typeface="Calibri"/>
              </a:rPr>
              <a:t>Calidad: llaves 100% íntegras; se trataron 261.831 duplicados en geolocalización, reseñas repetidas y 584 productos sin categoría.  *Fuente: EDA.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33A0"/>
                </a:solidFill>
                <a:latin typeface="Calibri"/>
              </a:rPr>
              <a:t>Belleza y salud es la única categoría que lidera en volumen y en ingresos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26277"/>
                </a:solidFill>
                <a:latin typeface="Calibri"/>
              </a:rPr>
              <a:t>Prueba técnica · Científico de Datos IA – PQR · Mateo Londoño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26277"/>
                </a:solidFill>
                <a:latin typeface="Calibri"/>
              </a:rPr>
              <a:t>4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325880"/>
          <a:ext cx="356616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931920" y="1325880"/>
          <a:ext cx="3566160" cy="48463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89520" y="1325880"/>
            <a:ext cx="4160520" cy="36118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417320"/>
            <a:ext cx="38404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33A0"/>
                </a:solidFill>
                <a:latin typeface="Calibri"/>
              </a:rPr>
              <a:t>Hallazgos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828800"/>
            <a:ext cx="3840480" cy="3063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92730"/>
                </a:solidFill>
                <a:latin typeface="Calibri"/>
              </a:rPr>
              <a:t>• Belleza y salud: 1ª en ingresos (R$ 1.233.132) y 2ª en volumen.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92730"/>
                </a:solidFill>
                <a:latin typeface="Calibri"/>
              </a:rPr>
              <a:t>• El ticket separa los rankings: Relojes (R$ 199) entra por ingresos y Muebles (R$ 87) por volumen.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92730"/>
                </a:solidFill>
                <a:latin typeface="Calibri"/>
              </a:rPr>
              <a:t>• Negocio fragmentado: el top 5 suma solo el 39,8% de los ingresos.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5074920"/>
            <a:ext cx="41605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719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5120640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33A0"/>
                </a:solidFill>
                <a:latin typeface="Calibri"/>
              </a:rPr>
              <a:t>Supuesto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5440680"/>
            <a:ext cx="38404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26277"/>
                </a:solidFill>
                <a:latin typeface="Calibri"/>
              </a:rPr>
              <a:t>Pedidos entregados (96.478). Volumen = unidades; ingresos = price sin flete.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33A0"/>
                </a:solidFill>
                <a:latin typeface="Calibri"/>
              </a:rPr>
              <a:t>La entrega tarde es el mayor dolor: 62% de malas reseñas frente a 9% a tiempo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26277"/>
                </a:solidFill>
                <a:latin typeface="Calibri"/>
              </a:rPr>
              <a:t>Prueba técnica · Científico de Datos IA – PQR · Mateo Londoño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26277"/>
                </a:solidFill>
                <a:latin typeface="Calibri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44752"/>
            <a:ext cx="31089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3E829"/>
                </a:solidFill>
                <a:latin typeface="Calibri"/>
              </a:rPr>
              <a:t>62,4%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84832"/>
            <a:ext cx="3108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malas reseñas si llega tarde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1371600"/>
            <a:ext cx="3383280" cy="1234440"/>
          </a:xfrm>
          <a:prstGeom prst="roundRect">
            <a:avLst>
              <a:gd name="adj" fmla="val 6000"/>
            </a:avLst>
          </a:prstGeom>
          <a:solidFill>
            <a:srgbClr val="719E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1444752"/>
            <a:ext cx="31089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9,3%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084832"/>
            <a:ext cx="3108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malas reseñas si llega a tiempo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65760" y="2788920"/>
          <a:ext cx="7132320" cy="3474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589520" y="1325880"/>
            <a:ext cx="4160520" cy="36118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417320"/>
            <a:ext cx="38404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33A0"/>
                </a:solidFill>
                <a:latin typeface="Calibri"/>
              </a:rPr>
              <a:t>Hallazgos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828800"/>
            <a:ext cx="3840480" cy="3063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92730"/>
                </a:solidFill>
                <a:latin typeface="Calibri"/>
              </a:rPr>
              <a:t>• Top 3 dolores: entrega (56,4%), atención (17,9%) y producto errado (17,1%).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92730"/>
                </a:solidFill>
                <a:latin typeface="Calibri"/>
              </a:rPr>
              <a:t>• El daño tiene umbral: 1-3 días de retraso → 32,1%; 8-14 días → 80,2%.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92730"/>
                </a:solidFill>
                <a:latin typeface="Calibri"/>
              </a:rPr>
              <a:t>• El flete caro no es dolor (14,9% vs 14,1%); los pedidos de varios vendedores sí (47,3%).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5074920"/>
            <a:ext cx="41605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719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5120640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33A0"/>
                </a:solidFill>
                <a:latin typeface="Calibri"/>
              </a:rPr>
              <a:t>Supuesto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5440680"/>
            <a:ext cx="38404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26277"/>
                </a:solidFill>
                <a:latin typeface="Calibri"/>
              </a:rPr>
              <a:t>Mala experiencia = reseña de 1-2★; una reseña por pedido (la más reciente).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33A0"/>
                </a:solidFill>
                <a:latin typeface="Calibri"/>
              </a:rPr>
              <a:t>Donde más se vende es donde más duele: las categorías líderes concentran las malas experiencias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26277"/>
                </a:solidFill>
                <a:latin typeface="Calibri"/>
              </a:rPr>
              <a:t>Prueba técnica · Científico de Datos IA – PQR · Mateo Londoño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26277"/>
                </a:solidFill>
                <a:latin typeface="Calibri"/>
              </a:rPr>
              <a:t>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325880"/>
          <a:ext cx="420624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63440" y="1554480"/>
          <a:ext cx="2743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822960"/>
                <a:gridCol w="77724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Por tasa</a:t>
                      </a:r>
                    </a:p>
                  </a:txBody>
                  <a:tcPr marL="54864" marR="54864">
                    <a:solidFill>
                      <a:srgbClr val="0033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% mala exp.</a:t>
                      </a:r>
                    </a:p>
                  </a:txBody>
                  <a:tcPr marL="54864" marR="54864">
                    <a:solidFill>
                      <a:srgbClr val="0033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Causa</a:t>
                      </a:r>
                    </a:p>
                  </a:txBody>
                  <a:tcPr marL="54864" marR="54864">
                    <a:solidFill>
                      <a:srgbClr val="0033A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730"/>
                          </a:solidFill>
                          <a:latin typeface="Calibri"/>
                        </a:rPr>
                        <a:t>Muebles oficina</a:t>
                      </a:r>
                    </a:p>
                  </a:txBody>
                  <a:tcPr marL="54864" marR="54864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730"/>
                          </a:solidFill>
                          <a:latin typeface="Calibri"/>
                        </a:rPr>
                        <a:t>22,0%</a:t>
                      </a:r>
                    </a:p>
                  </a:txBody>
                  <a:tcPr marL="54864" marR="54864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730"/>
                          </a:solidFill>
                          <a:latin typeface="Calibri"/>
                        </a:rPr>
                        <a:t>Producto</a:t>
                      </a:r>
                    </a:p>
                  </a:txBody>
                  <a:tcPr marL="54864" marR="54864"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730"/>
                          </a:solidFill>
                          <a:latin typeface="Calibri"/>
                        </a:rPr>
                        <a:t>Audio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730"/>
                          </a:solidFill>
                          <a:latin typeface="Calibri"/>
                        </a:rPr>
                        <a:t>21,7%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730"/>
                          </a:solidFill>
                          <a:latin typeface="Calibri"/>
                        </a:rPr>
                        <a:t>Logística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730"/>
                          </a:solidFill>
                          <a:latin typeface="Calibri"/>
                        </a:rPr>
                        <a:t>Confort hogar</a:t>
                      </a:r>
                    </a:p>
                  </a:txBody>
                  <a:tcPr marL="54864" marR="54864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730"/>
                          </a:solidFill>
                          <a:latin typeface="Calibri"/>
                        </a:rPr>
                        <a:t>18,7%</a:t>
                      </a:r>
                    </a:p>
                  </a:txBody>
                  <a:tcPr marL="54864" marR="54864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730"/>
                          </a:solidFill>
                          <a:latin typeface="Calibri"/>
                        </a:rPr>
                        <a:t>Logística</a:t>
                      </a:r>
                    </a:p>
                  </a:txBody>
                  <a:tcPr marL="54864" marR="54864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663440" y="3749039"/>
            <a:ext cx="274320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26277"/>
                </a:solidFill>
                <a:latin typeface="Calibri"/>
              </a:rPr>
              <a:t>Logística: retraso muy por encima del 6,8% promedio (Audio 11,6%, Confort 9,5%). Producto: nota baja con retraso cercano al promedio (Muebles de oficina: 3,64 con 8,0%).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325880"/>
            <a:ext cx="4160520" cy="36118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417320"/>
            <a:ext cx="38404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33A0"/>
                </a:solidFill>
                <a:latin typeface="Calibri"/>
              </a:rPr>
              <a:t>Hallazgos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828800"/>
            <a:ext cx="3840480" cy="3063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92730"/>
                </a:solidFill>
                <a:latin typeface="Calibri"/>
              </a:rPr>
              <a:t>• Top 3 por impacto: Cama, mesa y baño (1.471), Belleza y salud (985) y Muebles y decoración (961).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92730"/>
                </a:solidFill>
                <a:latin typeface="Calibri"/>
              </a:rPr>
              <a:t>• Top 3 por tasa: Muebles de oficina (22,0%), Audio (21,7%) y Confort para el hogar (18,7%).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92730"/>
                </a:solidFill>
                <a:latin typeface="Calibri"/>
              </a:rPr>
              <a:t>• Audio falla por logística (11,6% tarde); Muebles de oficina, por producto (score 3,64).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5074920"/>
            <a:ext cx="41605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719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5120640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33A0"/>
                </a:solidFill>
                <a:latin typeface="Calibri"/>
              </a:rPr>
              <a:t>Supuesto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440680"/>
            <a:ext cx="38404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26277"/>
                </a:solidFill>
                <a:latin typeface="Calibri"/>
              </a:rPr>
              <a:t>Ranking por tasa con ≥ 300 pedidos; un pedido cuenta en cada categoría que contiene.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33A0"/>
                </a:solidFill>
                <a:latin typeface="Calibri"/>
              </a:rPr>
              <a:t>Con 97% de compradores únicos, la segmentación se apoya en recencia y valor, no en frecuencia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26277"/>
                </a:solidFill>
                <a:latin typeface="Calibri"/>
              </a:rPr>
              <a:t>Prueba técnica · Científico de Datos IA – PQR · Mateo Londoño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26277"/>
                </a:solidFill>
                <a:latin typeface="Calibri"/>
              </a:rPr>
              <a:t>7</a:t>
            </a:r>
          </a:p>
        </p:txBody>
      </p:sp>
      <p:pic>
        <p:nvPicPr>
          <p:cNvPr id="5" name="Picture 4" descr="2_1_dias_entre_compr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99" y="1325880"/>
            <a:ext cx="6826400" cy="338327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892040"/>
            <a:ext cx="2240280" cy="1234440"/>
          </a:xfrm>
          <a:prstGeom prst="roundRect">
            <a:avLst>
              <a:gd name="adj" fmla="val 6000"/>
            </a:avLst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965192"/>
            <a:ext cx="19659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3E829"/>
                </a:solidFill>
                <a:latin typeface="Calibri"/>
              </a:rPr>
              <a:t>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605272"/>
            <a:ext cx="1965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clientes recompran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4892040"/>
            <a:ext cx="2240280" cy="1234440"/>
          </a:xfrm>
          <a:prstGeom prst="roundRect">
            <a:avLst>
              <a:gd name="adj" fmla="val 6000"/>
            </a:avLst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4965192"/>
            <a:ext cx="19659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3E829"/>
                </a:solidFill>
                <a:latin typeface="Calibri"/>
              </a:rPr>
              <a:t>171 días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5605272"/>
            <a:ext cx="1965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umbral de riesgo (p75)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4892040"/>
            <a:ext cx="2240280" cy="1234440"/>
          </a:xfrm>
          <a:prstGeom prst="roundRect">
            <a:avLst>
              <a:gd name="adj" fmla="val 6000"/>
            </a:avLst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4965192"/>
            <a:ext cx="19659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3E829"/>
                </a:solidFill>
                <a:latin typeface="Calibri"/>
              </a:rPr>
              <a:t>17%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5605272"/>
            <a:ext cx="1965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cluster insatisfecho (K-Means)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1325880"/>
            <a:ext cx="4160520" cy="36118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1417320"/>
            <a:ext cx="38404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33A0"/>
                </a:solidFill>
                <a:latin typeface="Calibri"/>
              </a:rPr>
              <a:t>Hallazgos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1828800"/>
            <a:ext cx="3840480" cy="3063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92730"/>
                </a:solidFill>
                <a:latin typeface="Calibri"/>
              </a:rPr>
              <a:t>• La F no sirve sola: con 97% de compra única, un RFM clásico dejaría a casi todos en el mismo grupo.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92730"/>
                </a:solidFill>
                <a:latin typeface="Calibri"/>
              </a:rPr>
              <a:t>• El 30% de las «recompras» era el mismo carrito del mismo día: contarlas inflaba la fidelidad.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92730"/>
                </a:solidFill>
                <a:latin typeface="Calibri"/>
              </a:rPr>
              <a:t>• El 75% de quien vuelve lo hace en 171 días: pasado ese plazo, el cliente entra en riesgo.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92730"/>
                </a:solidFill>
                <a:latin typeface="Calibri"/>
              </a:rPr>
              <a:t>• 1 de cada 10 clientes (gasto ≥ R$ 319) aporta el 37% de los ingresos: la R y la M sí separan.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92730"/>
                </a:solidFill>
                <a:latin typeface="Calibri"/>
              </a:rPr>
              <a:t>• El K-Means no agrupó por valor sino por satisfacción: 17% de clientes con 78% de malas experiencias.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5074920"/>
            <a:ext cx="41605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719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5120640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33A0"/>
                </a:solidFill>
                <a:latin typeface="Calibri"/>
              </a:rPr>
              <a:t>Supuesto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5440680"/>
            <a:ext cx="38404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26277"/>
                </a:solidFill>
                <a:latin typeface="Calibri"/>
              </a:rPr>
              <a:t>Frecuencia = días distintos de compra; ventana hasta ago-2018 (sep-2018 incompleto).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33A0"/>
                </a:solidFill>
                <a:latin typeface="Calibri"/>
              </a:rPr>
              <a:t>El 9,6% de los clientes (VIP) genera el 36,9% de los ingresos; el 55% ya salió del ciclo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26277"/>
                </a:solidFill>
                <a:latin typeface="Calibri"/>
              </a:rPr>
              <a:t>Prueba técnica · Científico de Datos IA – PQR · Mateo Londoño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26277"/>
                </a:solidFill>
                <a:latin typeface="Calibri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6949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05840"/>
                <a:gridCol w="1005840"/>
                <a:gridCol w="310896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Segmento</a:t>
                      </a:r>
                    </a:p>
                  </a:txBody>
                  <a:tcPr marL="54864" marR="54864">
                    <a:solidFill>
                      <a:srgbClr val="0033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% clientes</a:t>
                      </a:r>
                    </a:p>
                  </a:txBody>
                  <a:tcPr marL="54864" marR="54864">
                    <a:solidFill>
                      <a:srgbClr val="0033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% ingresos</a:t>
                      </a:r>
                    </a:p>
                  </a:txBody>
                  <a:tcPr marL="54864" marR="54864">
                    <a:solidFill>
                      <a:srgbClr val="0033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Acción de marketing</a:t>
                      </a:r>
                    </a:p>
                  </a:txBody>
                  <a:tcPr marL="54864" marR="54864">
                    <a:solidFill>
                      <a:srgbClr val="0033A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Fieles</a:t>
                      </a:r>
                    </a:p>
                  </a:txBody>
                  <a:tcPr marL="54864" marR="54864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1,1%</a:t>
                      </a:r>
                    </a:p>
                  </a:txBody>
                  <a:tcPr marL="54864" marR="54864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2,2%</a:t>
                      </a:r>
                    </a:p>
                  </a:txBody>
                  <a:tcPr marL="54864" marR="54864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Fidelización y cross-sell</a:t>
                      </a:r>
                    </a:p>
                  </a:txBody>
                  <a:tcPr marL="54864" marR="54864">
                    <a:solidFill>
                      <a:srgbClr val="EEF2F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VIP / Alto valor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9,6%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36,9%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Atención preferente y recompra asistida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Esporádicos recientes</a:t>
                      </a:r>
                    </a:p>
                  </a:txBody>
                  <a:tcPr marL="54864" marR="54864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34,0%</a:t>
                      </a:r>
                    </a:p>
                  </a:txBody>
                  <a:tcPr marL="54864" marR="54864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23,2%</a:t>
                      </a:r>
                    </a:p>
                  </a:txBody>
                  <a:tcPr marL="54864" marR="54864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Cupón para la 2ª compra</a:t>
                      </a:r>
                    </a:p>
                  </a:txBody>
                  <a:tcPr marL="54864" marR="54864">
                    <a:solidFill>
                      <a:srgbClr val="EEF2F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En riesgo de abandono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23,9%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16,4%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Reactivar; si tuvo mala exp., resolver PQR primero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Perdidos / Inactivos</a:t>
                      </a:r>
                    </a:p>
                  </a:txBody>
                  <a:tcPr marL="54864" marR="54864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31,4%</a:t>
                      </a:r>
                    </a:p>
                  </a:txBody>
                  <a:tcPr marL="54864" marR="54864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21,3%</a:t>
                      </a:r>
                    </a:p>
                  </a:txBody>
                  <a:tcPr marL="54864" marR="54864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Campaña masiva de bajo costo</a:t>
                      </a:r>
                    </a:p>
                  </a:txBody>
                  <a:tcPr marL="54864" marR="54864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89520" y="1325880"/>
            <a:ext cx="4160520" cy="36118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417320"/>
            <a:ext cx="38404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33A0"/>
                </a:solidFill>
                <a:latin typeface="Calibri"/>
              </a:rPr>
              <a:t>Hallazgos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828800"/>
            <a:ext cx="3840480" cy="3063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92730"/>
                </a:solidFill>
                <a:latin typeface="Calibri"/>
              </a:rPr>
              <a:t>• Casi no hay fieles: 1.060 clientes (1,1%). El objetivo es la segunda compra.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92730"/>
                </a:solidFill>
                <a:latin typeface="Calibri"/>
              </a:rPr>
              <a:t>• El valor está concentrado: VIP = 9,6% de clientes y 36,9% de ingresos.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92730"/>
                </a:solidFill>
                <a:latin typeface="Calibri"/>
              </a:rPr>
              <a:t>• El 55% está en riesgo o perdido y aporta el 37,6% de los ingresos.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5074920"/>
            <a:ext cx="41605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719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5120640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33A0"/>
                </a:solidFill>
                <a:latin typeface="Calibri"/>
              </a:rPr>
              <a:t>Supuesto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5440680"/>
            <a:ext cx="38404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26277"/>
                </a:solidFill>
                <a:latin typeface="Calibri"/>
              </a:rPr>
              <a:t>En riesgo: más de 171 días sin comprar; perdido: más de 281; VIP: gasto ≥ R$ 319 (p90).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33A0"/>
                </a:solidFill>
                <a:latin typeface="Calibri"/>
              </a:rPr>
              <a:t>Lo pesado se calcula una vez al día; en línea solo se lee y se decide en milisegundos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26277"/>
                </a:solidFill>
                <a:latin typeface="Calibri"/>
              </a:rPr>
              <a:t>Prueba técnica · Científico de Datos IA – PQR · Mateo Londoño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26277"/>
                </a:solidFill>
                <a:latin typeface="Calibri"/>
              </a:rPr>
              <a:t>9</a:t>
            </a:r>
          </a:p>
        </p:txBody>
      </p:sp>
      <p:pic>
        <p:nvPicPr>
          <p:cNvPr id="5" name="Picture 4" descr="arquitectura_2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730" y="1280160"/>
            <a:ext cx="9198058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33A0"/>
                </a:solidFill>
                <a:latin typeface="Calibri"/>
              </a:rPr>
              <a:t>El recomendador supera a la popularidad y responde en 0,07 ms en el servidor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26277"/>
                </a:solidFill>
                <a:latin typeface="Calibri"/>
              </a:rPr>
              <a:t>Prueba técnica · Científico de Datos IA – PQR · Mateo Londoño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26277"/>
                </a:solidFill>
                <a:latin typeface="Calibri"/>
              </a:rP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56692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5661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Tipo de cliente</a:t>
                      </a:r>
                    </a:p>
                  </a:txBody>
                  <a:tcPr marL="54864" marR="54864">
                    <a:solidFill>
                      <a:srgbClr val="0033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Qué recibe</a:t>
                      </a:r>
                    </a:p>
                  </a:txBody>
                  <a:tcPr marL="54864" marR="54864">
                    <a:solidFill>
                      <a:srgbClr val="0033A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Nuevo (cold start)</a:t>
                      </a:r>
                    </a:p>
                  </a:txBody>
                  <a:tcPr marL="54864" marR="54864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Lo más vendido en su estado</a:t>
                      </a:r>
                    </a:p>
                  </a:txBody>
                  <a:tcPr marL="54864" marR="54864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1 compra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Categoría complementaria + favorita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Fiel</a:t>
                      </a:r>
                    </a:p>
                  </a:txBody>
                  <a:tcPr marL="54864" marR="54864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Su favorita + complementaria</a:t>
                      </a:r>
                    </a:p>
                  </a:txBody>
                  <a:tcPr marL="54864" marR="54864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VIP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Solo productos premium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En riesgo / mala exp.</a:t>
                      </a:r>
                    </a:p>
                  </a:txBody>
                  <a:tcPr marL="54864" marR="54864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Vendedores con entrega confiable</a:t>
                      </a:r>
                    </a:p>
                  </a:txBody>
                  <a:tcPr marL="54864" marR="54864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0" y="1371600"/>
            <a:ext cx="2560320" cy="1234440"/>
          </a:xfrm>
          <a:prstGeom prst="roundRect">
            <a:avLst>
              <a:gd name="adj" fmla="val 6000"/>
            </a:avLst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444752"/>
            <a:ext cx="22860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3E829"/>
                </a:solidFill>
                <a:latin typeface="Calibri"/>
              </a:rPr>
              <a:t>0,07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084832"/>
            <a:ext cx="22860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latencia en el servidor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371600"/>
            <a:ext cx="2587752" cy="1234440"/>
          </a:xfrm>
          <a:prstGeom prst="roundRect">
            <a:avLst>
              <a:gd name="adj" fmla="val 6000"/>
            </a:avLst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81160" y="1444752"/>
            <a:ext cx="231343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3E829"/>
                </a:solidFill>
                <a:latin typeface="Calibri"/>
              </a:rPr>
              <a:t>8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2084832"/>
            <a:ext cx="2313432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con HTTP (p95 10,6 ms)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88920"/>
            <a:ext cx="5330952" cy="1234440"/>
          </a:xfrm>
          <a:prstGeom prst="roundRect">
            <a:avLst>
              <a:gd name="adj" fmla="val 6000"/>
            </a:avLst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862072"/>
            <a:ext cx="505663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3E829"/>
                </a:solidFill>
                <a:latin typeface="Calibri"/>
              </a:rPr>
              <a:t>~50% vs ~46%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502152"/>
            <a:ext cx="5056632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acierto de la siguiente compra vs popularidad (3 cortes)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343400"/>
            <a:ext cx="11274552" cy="1874519"/>
          </a:xfrm>
          <a:prstGeom prst="roundRect">
            <a:avLst>
              <a:gd name="adj" fmla="val 6000"/>
            </a:avLst>
          </a:prstGeom>
          <a:solidFill>
            <a:srgbClr val="1C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109728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3E829"/>
                </a:solidFill>
                <a:latin typeface="Calibri"/>
              </a:rPr>
              <a:t>GET /recomendar/{customer_unique_id}?k=5   ·   demo publicado en AWS Lambda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{"estrategia": "Reactivación: productos con entrega confiable (evita la categoría de su mala experiencia)",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 "recomendaciones": [{"categoria": "Cama, mesa y baño", "precio": 194.79, "motivo": "Lo más vendido en RJ"}, …],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 "latencia_ms": 0.09}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719ECE"/>
                </a:solidFill>
                <a:latin typeface="Calibri"/>
              </a:rPr>
              <a:t>Flujo: visita → perfil (2.1 + dolor 1.2) → candidatos → ranking → reglas → top 5 · Serverless: escala solo y cuesta $0 sin uso · El Agente de IA usa este endpoint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33A0"/>
                </a:solidFill>
                <a:latin typeface="Calibri"/>
              </a:rPr>
              <a:t>La tienda insignia va en el centro expandido de São Paulo: 21% de las ventas en 3 km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26277"/>
                </a:solidFill>
                <a:latin typeface="Calibri"/>
              </a:rPr>
              <a:t>Prueba técnica · Científico de Datos IA – PQR · Mateo Londoño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26277"/>
                </a:solidFill>
                <a:latin typeface="Calibri"/>
              </a:rPr>
              <a:t>11</a:t>
            </a:r>
          </a:p>
        </p:txBody>
      </p:sp>
      <p:pic>
        <p:nvPicPr>
          <p:cNvPr id="5" name="Picture 4" descr="2_3_mapa_zon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80114"/>
            <a:ext cx="4206240" cy="462929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754880" y="1325880"/>
            <a:ext cx="2651760" cy="1234440"/>
          </a:xfrm>
          <a:prstGeom prst="roundRect">
            <a:avLst>
              <a:gd name="adj" fmla="val 6000"/>
            </a:avLst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92040" y="1399032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3E829"/>
                </a:solidFill>
                <a:latin typeface="Calibri"/>
              </a:rPr>
              <a:t>14,1%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2039112"/>
            <a:ext cx="23774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 las ventas del país en São Paulo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651760"/>
            <a:ext cx="2651760" cy="1234440"/>
          </a:xfrm>
          <a:prstGeom prst="roundRect">
            <a:avLst>
              <a:gd name="adj" fmla="val 6000"/>
            </a:avLst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2724912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3E829"/>
                </a:solidFill>
                <a:latin typeface="Calibri"/>
              </a:rPr>
              <a:t>20,6%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3364991"/>
            <a:ext cx="23774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 las ventas de la ciudad en la zona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3977639"/>
            <a:ext cx="2651760" cy="1234440"/>
          </a:xfrm>
          <a:prstGeom prst="roundRect">
            <a:avLst>
              <a:gd name="adj" fmla="val 6000"/>
            </a:avLst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4050791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3E829"/>
                </a:solidFill>
                <a:latin typeface="Calibri"/>
              </a:rPr>
              <a:t>2.744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690872"/>
            <a:ext cx="23774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clientes en la zona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5303520"/>
            <a:ext cx="2651760" cy="1234440"/>
          </a:xfrm>
          <a:prstGeom prst="roundRect">
            <a:avLst>
              <a:gd name="adj" fmla="val 6000"/>
            </a:avLst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5376672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3E829"/>
                </a:solidFill>
                <a:latin typeface="Calibri"/>
              </a:rPr>
              <a:t>R$ 136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6016752"/>
            <a:ext cx="23774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ticket vs R$ 124 de la ciudad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1325880"/>
            <a:ext cx="4160520" cy="36118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1417320"/>
            <a:ext cx="38404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33A0"/>
                </a:solidFill>
                <a:latin typeface="Calibri"/>
              </a:rPr>
              <a:t>Hallazgos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1828800"/>
            <a:ext cx="3840480" cy="3063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92730"/>
                </a:solidFill>
                <a:latin typeface="Calibri"/>
              </a:rPr>
              <a:t>• Zona de 431 prefijos y 2.828 pedidos; la mitad de sus ventas son categorías top del 1.1.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92730"/>
                </a:solidFill>
                <a:latin typeface="Calibri"/>
              </a:rPr>
              <a:t>• Robusta: la misma zona gana con 4 esquemas de pesos.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92730"/>
                </a:solidFill>
                <a:latin typeface="Calibri"/>
              </a:rPr>
              <a:t>• Ya recibe en 7 días (vs 12 en Brasil): la tienda es apuesta de marca y cercanía al cliente de mayor ticket.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5074920"/>
            <a:ext cx="41605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719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5120640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33A0"/>
                </a:solidFill>
                <a:latin typeface="Calibri"/>
              </a:rPr>
              <a:t>Supuesto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5440680"/>
            <a:ext cx="38404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26277"/>
                </a:solidFill>
                <a:latin typeface="Calibri"/>
              </a:rPr>
              <a:t>Venta ubicada en la dirección del cliente; coordenadas = mediana por prefijo postal.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33A0"/>
                </a:solidFill>
                <a:latin typeface="Calibri"/>
              </a:rPr>
              <a:t>Tres productos reales, con precios reales y nombres inferidos de las reseñas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26277"/>
                </a:solidFill>
                <a:latin typeface="Calibri"/>
              </a:rPr>
              <a:t>Prueba técnica · Científico de Datos IA – PQR · Mateo Londoño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26277"/>
                </a:solidFill>
                <a:latin typeface="Calibri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611880" cy="26517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26277"/>
                </a:solidFill>
                <a:latin typeface="Calibri"/>
              </a:rPr>
              <a:t>Belleza y salud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2918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33A0"/>
                </a:solidFill>
                <a:latin typeface="Calibri"/>
              </a:rPr>
              <a:t>Adipómetro Profesional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92730"/>
                </a:solidFill>
                <a:latin typeface="Calibri"/>
              </a:rPr>
              <a:t>R$ 327,63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32918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92730"/>
                </a:solidFill>
                <a:latin typeface="Calibri"/>
              </a:rPr>
              <a:t>Mide la grasa corporal como lo hacen nutricionistas y entrenadores.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371600"/>
            <a:ext cx="3611880" cy="26517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463040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26277"/>
                </a:solidFill>
                <a:latin typeface="Calibri"/>
              </a:rPr>
              <a:t>Cama, mesa y baño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783080"/>
            <a:ext cx="32918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33A0"/>
                </a:solidFill>
                <a:latin typeface="Calibri"/>
              </a:rPr>
              <a:t>Juego de Toallas Jardín Bordado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468880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92730"/>
                </a:solidFill>
                <a:latin typeface="Calibri"/>
              </a:rPr>
              <a:t>R$ 88,15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063240"/>
            <a:ext cx="32918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92730"/>
                </a:solidFill>
                <a:latin typeface="Calibri"/>
              </a:rPr>
              <a:t>Toallas amplias con estampado floral y bordado para el día a día.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611880" cy="26517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463040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26277"/>
                </a:solidFill>
                <a:latin typeface="Calibri"/>
              </a:rPr>
              <a:t>Muebles y decoración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783080"/>
            <a:ext cx="32918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33A0"/>
                </a:solidFill>
                <a:latin typeface="Calibri"/>
              </a:rPr>
              <a:t>Perchero Organizador con Ruedas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468880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92730"/>
                </a:solidFill>
                <a:latin typeface="Calibri"/>
              </a:rPr>
              <a:t>R$ 71,35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063240"/>
            <a:ext cx="32918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92730"/>
                </a:solidFill>
                <a:latin typeface="Calibri"/>
              </a:rPr>
              <a:t>Libera el clóset: ropa a la vista, fácil de armar y de mover.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06240"/>
            <a:ext cx="11274552" cy="2011680"/>
          </a:xfrm>
          <a:prstGeom prst="roundRect">
            <a:avLst>
              <a:gd name="adj" fmla="val 6000"/>
            </a:avLst>
          </a:prstGeom>
          <a:solidFill>
            <a:srgbClr val="1C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297680"/>
            <a:ext cx="1097280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3E829"/>
                </a:solidFill>
                <a:latin typeface="Calibri"/>
              </a:rPr>
              <a:t>agent/knowledge_base.json (fragmento)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{"id": "aca2eb7d00ea1a7b8ebd4e68314663af", "nombre_comercial": "Perchero Organizador con Ruedas (simulado)",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 "precio_promedio_real": 71.35, "unidades_vendidas": 520, "pct_entregas_a_tiempo": 92.9,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 "nota_para_el_agente": "Hubo quejas de pedidos de varias unidades que llegaron incompletos: confirmar cantidades."}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33A0"/>
                </a:solidFill>
                <a:latin typeface="Calibri"/>
              </a:rPr>
              <a:t>Una misma estructura de 8 partes; los datos reales del cliente entran por 5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26277"/>
                </a:solidFill>
                <a:latin typeface="Calibri"/>
              </a:rPr>
              <a:t>Prueba técnica · Científico de Datos IA – PQR · Mateo Londoño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26277"/>
                </a:solidFill>
                <a:latin typeface="Calibri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606040" cy="100584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2331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33A0"/>
                </a:solidFill>
                <a:latin typeface="Calibri"/>
              </a:rPr>
              <a:t>1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92730"/>
                </a:solidFill>
                <a:latin typeface="Calibri"/>
              </a:rPr>
              <a:t>Rol e identidad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371600"/>
            <a:ext cx="2606040" cy="1005840"/>
          </a:xfrm>
          <a:prstGeom prst="roundRect">
            <a:avLst>
              <a:gd name="adj" fmla="val 6000"/>
            </a:avLst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463040"/>
            <a:ext cx="2331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E3E829"/>
                </a:solidFill>
                <a:latin typeface="Calibri"/>
              </a:rPr>
              <a:t>2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Contexto (5 variables)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60320"/>
            <a:ext cx="2606040" cy="100584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51760"/>
            <a:ext cx="2331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33A0"/>
                </a:solidFill>
                <a:latin typeface="Calibri"/>
              </a:rPr>
              <a:t>3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92730"/>
                </a:solidFill>
                <a:latin typeface="Calibri"/>
              </a:rPr>
              <a:t>Objetivo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2560320"/>
            <a:ext cx="2606040" cy="100584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2651760"/>
            <a:ext cx="2331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33A0"/>
                </a:solidFill>
                <a:latin typeface="Calibri"/>
              </a:rPr>
              <a:t>4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92730"/>
                </a:solidFill>
                <a:latin typeface="Calibri"/>
              </a:rPr>
              <a:t>Tono y estilo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49039"/>
            <a:ext cx="2606040" cy="100584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840479"/>
            <a:ext cx="2331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33A0"/>
                </a:solidFill>
                <a:latin typeface="Calibri"/>
              </a:rPr>
              <a:t>5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92730"/>
                </a:solidFill>
                <a:latin typeface="Calibri"/>
              </a:rPr>
              <a:t>Estrategia de recomendación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3749039"/>
            <a:ext cx="2606040" cy="1005840"/>
          </a:xfrm>
          <a:prstGeom prst="roundRect">
            <a:avLst>
              <a:gd name="adj" fmla="val 6000"/>
            </a:avLst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3840479"/>
            <a:ext cx="2331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E3E829"/>
                </a:solidFill>
                <a:latin typeface="Calibri"/>
              </a:rPr>
              <a:t>6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Guardarraíles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937760"/>
            <a:ext cx="2606040" cy="100584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029200"/>
            <a:ext cx="2331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33A0"/>
                </a:solidFill>
                <a:latin typeface="Calibri"/>
              </a:rPr>
              <a:t>7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92730"/>
                </a:solidFill>
                <a:latin typeface="Calibri"/>
              </a:rPr>
              <a:t>Formato de respuesta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4937760"/>
            <a:ext cx="2606040" cy="100584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5029200"/>
            <a:ext cx="2331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33A0"/>
                </a:solidFill>
                <a:latin typeface="Calibri"/>
              </a:rPr>
              <a:t>8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92730"/>
                </a:solidFill>
                <a:latin typeface="Calibri"/>
              </a:rPr>
              <a:t>Ejemplo de primer mensaje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3258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33A0"/>
                </a:solidFill>
                <a:latin typeface="Calibri"/>
              </a:rPr>
              <a:t>Cómo se llenan las variables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783080"/>
            <a:ext cx="5513832" cy="658368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856231"/>
            <a:ext cx="23774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33A0"/>
                </a:solidFill>
                <a:latin typeface="Calibri"/>
              </a:rPr>
              <a:t>[EDAD] · [GÉNERO]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1856231"/>
            <a:ext cx="292608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92730"/>
                </a:solidFill>
                <a:latin typeface="Calibri"/>
              </a:rPr>
              <a:t>CRM (simulado): solo modula el tono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560320"/>
            <a:ext cx="5513832" cy="658368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633472"/>
            <a:ext cx="23774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33A0"/>
                </a:solidFill>
                <a:latin typeface="Calibri"/>
              </a:rPr>
              <a:t>[PERFIL_DE_CLIENTE]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2633472"/>
            <a:ext cx="292608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92730"/>
                </a:solidFill>
                <a:latin typeface="Calibri"/>
              </a:rPr>
              <a:t>Segmento y subsegmento del 2.1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337560"/>
            <a:ext cx="5513832" cy="658368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3410712"/>
            <a:ext cx="23774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33A0"/>
                </a:solidFill>
                <a:latin typeface="Calibri"/>
              </a:rPr>
              <a:t>[HISTORIAL_COMPRAS]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3410712"/>
            <a:ext cx="292608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92730"/>
                </a:solidFill>
                <a:latin typeface="Calibri"/>
              </a:rPr>
              <a:t>Resumen en texto calculado en el 2.1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114800"/>
            <a:ext cx="5513832" cy="658368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4187952"/>
            <a:ext cx="23774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33A0"/>
                </a:solidFill>
                <a:latin typeface="Calibri"/>
              </a:rPr>
              <a:t>[BASE_CONOCIMIENTO]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4187952"/>
            <a:ext cx="292608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92730"/>
                </a:solidFill>
                <a:latin typeface="Calibri"/>
              </a:rPr>
              <a:t>JSON del 3.1 (compacto)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983480"/>
            <a:ext cx="5513832" cy="1234440"/>
          </a:xfrm>
          <a:prstGeom prst="roundRect">
            <a:avLst>
              <a:gd name="adj" fmla="val 6000"/>
            </a:avLst>
          </a:prstGeom>
          <a:solidFill>
            <a:srgbClr val="1C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5029200"/>
            <a:ext cx="5303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3E829"/>
                </a:solidFill>
                <a:latin typeface="Calibri"/>
              </a:rPr>
              <a:t>Ejemplo real de [HISTORIAL_COMPRAS]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1 pedido | gasto total R$44 | categoría favorita: Mascotas | última compra hace 354 días | mala experiencia: sí | motivo: entrega / retraso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33A0"/>
                </a:solidFill>
                <a:latin typeface="Calibri"/>
              </a:rPr>
              <a:t>Tres personalidades para tres clientes: con quien sufrió un retraso, primero se repara y luego se vende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26277"/>
                </a:solidFill>
                <a:latin typeface="Calibri"/>
              </a:rPr>
              <a:t>Prueba técnica · Científico de Datos IA – PQR · Mateo Londoño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26277"/>
                </a:solidFill>
                <a:latin typeface="Calibri"/>
              </a:rP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694944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828800"/>
                <a:gridCol w="1965960"/>
                <a:gridCol w="1965960"/>
              </a:tblGrid>
              <a:tr h="8686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>
                    <a:solidFill>
                      <a:srgbClr val="0033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Joven digital</a:t>
                      </a:r>
                    </a:p>
                  </a:txBody>
                  <a:tcPr marL="54864" marR="54864">
                    <a:solidFill>
                      <a:srgbClr val="0033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Mayor con mala exp.</a:t>
                      </a:r>
                    </a:p>
                  </a:txBody>
                  <a:tcPr marL="54864" marR="54864">
                    <a:solidFill>
                      <a:srgbClr val="0033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VIP / corporativo</a:t>
                      </a:r>
                    </a:p>
                  </a:txBody>
                  <a:tcPr marL="54864" marR="54864">
                    <a:solidFill>
                      <a:srgbClr val="0033A0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Tono</a:t>
                      </a:r>
                    </a:p>
                  </a:txBody>
                  <a:tcPr marL="54864" marR="54864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Tutea, corto, 1-2 emojis</a:t>
                      </a:r>
                    </a:p>
                  </a:txBody>
                  <a:tcPr marL="54864" marR="54864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Usted, pausado, sin emojis</a:t>
                      </a:r>
                    </a:p>
                  </a:txBody>
                  <a:tcPr marL="54864" marR="54864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Usted, consultivo</a:t>
                      </a:r>
                    </a:p>
                  </a:txBody>
                  <a:tcPr marL="54864" marR="54864">
                    <a:solidFill>
                      <a:srgbClr val="EEF2F7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Objetivo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Nueva compra hoy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Recuperar la confianza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Mayor valor y volumen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Estrategia</a:t>
                      </a:r>
                    </a:p>
                  </a:txBody>
                  <a:tcPr marL="54864" marR="54864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Complementar su favorita</a:t>
                      </a:r>
                    </a:p>
                  </a:txBody>
                  <a:tcPr marL="54864" marR="54864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Solo productos que llegan a tiempo</a:t>
                      </a:r>
                    </a:p>
                  </a:txBody>
                  <a:tcPr marL="54864" marR="54864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Diagnóstico y cantidades</a:t>
                      </a:r>
                    </a:p>
                  </a:txBody>
                  <a:tcPr marL="54864" marR="54864">
                    <a:solidFill>
                      <a:srgbClr val="EEF2F7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Extracto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“¿Te lo dejo en el carrito?”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“Antes que nada, quiero pedirle disculpas”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92730"/>
                          </a:solidFill>
                          <a:latin typeface="Calibri"/>
                        </a:rPr>
                        <a:t>“¿Es para uso personal o para su empresa?”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89520" y="1325880"/>
            <a:ext cx="4160520" cy="36118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417320"/>
            <a:ext cx="38404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33A0"/>
                </a:solidFill>
                <a:latin typeface="Calibri"/>
              </a:rPr>
              <a:t>Hallazgos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828800"/>
            <a:ext cx="3840480" cy="3063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92730"/>
                </a:solidFill>
                <a:latin typeface="Calibri"/>
              </a:rPr>
              <a:t>• Reparar antes de vender: con el cliente del retraso, el primer mensaje es una disculpa.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92730"/>
                </a:solidFill>
                <a:latin typeface="Calibri"/>
              </a:rPr>
              <a:t>• Datos reales generan confianza: prioriza el % de entregas a tiempo y descarta el Adipómetro (84,9%).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92730"/>
                </a:solidFill>
                <a:latin typeface="Calibri"/>
              </a:rPr>
              <a:t>• Edad y género solo para el tono: prohibido suponer gustos o estereotipos.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5074920"/>
            <a:ext cx="41605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719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5120640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33A0"/>
                </a:solidFill>
                <a:latin typeface="Calibri"/>
              </a:rPr>
              <a:t>Supuesto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5440680"/>
            <a:ext cx="38404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26277"/>
                </a:solidFill>
                <a:latin typeface="Calibri"/>
              </a:rPr>
              <a:t>Edad y género simulados (CRM); clientes reales: un Fiel, un Perdido por retraso y un VIP.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9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Prueba técnica · Científico de Datos IA – PQR · Mateo Londoño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Cuatro aprendizajes que Protección puede activar en pensiones, cesantías y atención de PQR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5321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166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33A0"/>
                </a:solidFill>
                <a:latin typeface="Calibri"/>
              </a:rPr>
              <a:t>Cumplir la promesa es el mayor generador de satisfacción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B2987"/>
                </a:solidFill>
                <a:latin typeface="Calibri"/>
              </a:rPr>
              <a:t>62% de malas reseñas si llega tarde vs 9% a tiempo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92730"/>
                </a:solidFill>
                <a:latin typeface="Calibri"/>
              </a:rPr>
              <a:t>Acción: Alertas proactivas antes de que un retiro de cesantías, una pensión o una PQR supere el tiempo prometido.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26277"/>
                </a:solidFill>
                <a:latin typeface="Calibri"/>
              </a:rPr>
              <a:t>KPI: % de PQR por demora · NPS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55321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17320"/>
            <a:ext cx="5166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33A0"/>
                </a:solidFill>
                <a:latin typeface="Calibri"/>
              </a:rPr>
              <a:t>La mayoría de clientes no vuelve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B2987"/>
                </a:solidFill>
                <a:latin typeface="Calibri"/>
              </a:rPr>
              <a:t>Solo 3% recompra y el 55% ya salió del ciclo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92730"/>
                </a:solidFill>
                <a:latin typeface="Calibri"/>
              </a:rPr>
              <a:t>Acción: Modelo de propensión de abandono o traslado y retención por segmento (en riesgo, VIP).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26277"/>
                </a:solidFill>
                <a:latin typeface="Calibri"/>
              </a:rPr>
              <a:t>KPI: Tasa de traslados · retención por segmento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55321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5166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33A0"/>
                </a:solidFill>
                <a:latin typeface="Calibri"/>
              </a:rPr>
              <a:t>La voz del cliente ya explica los problemas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B2987"/>
                </a:solidFill>
                <a:latin typeface="Calibri"/>
              </a:rPr>
              <a:t>El NLP clasificó el 84% de las quejas; 56% hablan de entrega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92730"/>
                </a:solidFill>
                <a:latin typeface="Calibri"/>
              </a:rPr>
              <a:t>Acción: Speech-to-insights: transcribir llamadas y clasificar PQR por tema y urgencia.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26277"/>
                </a:solidFill>
                <a:latin typeface="Calibri"/>
              </a:rPr>
              <a:t>KPI: Tiempo de respuesta · resolución en primer contacto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657600"/>
            <a:ext cx="55321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3749039"/>
            <a:ext cx="5166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33A0"/>
                </a:solidFill>
                <a:latin typeface="Calibri"/>
              </a:rPr>
              <a:t>Personalizar el tono cambia la conversación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B2987"/>
                </a:solidFill>
                <a:latin typeface="Calibri"/>
              </a:rPr>
              <a:t>Con quien sufrió un retraso, el agente repara antes de vender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92730"/>
                </a:solidFill>
                <a:latin typeface="Calibri"/>
              </a:rPr>
              <a:t>Acción: Agente de IA con el contexto del afiliado (segmento, historial, PQR) para servicio y venta cruzada.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26277"/>
                </a:solidFill>
                <a:latin typeface="Calibri"/>
              </a:rPr>
              <a:t>KPI: Conversión cross-sell · satisfacción post-contacto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E3E829"/>
                </a:solidFill>
                <a:latin typeface="Calibri"/>
              </a:rPr>
              <a:t>De datos transaccionales a decisiones: diagnosticar → segmentar → activar con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